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1" r:id="rId2"/>
    <p:sldId id="268" r:id="rId3"/>
    <p:sldId id="296" r:id="rId4"/>
    <p:sldId id="299" r:id="rId5"/>
    <p:sldId id="298" r:id="rId6"/>
    <p:sldId id="300" r:id="rId7"/>
    <p:sldId id="320" r:id="rId8"/>
    <p:sldId id="321" r:id="rId9"/>
    <p:sldId id="32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16"/>
    <p:restoredTop sz="94740"/>
  </p:normalViewPr>
  <p:slideViewPr>
    <p:cSldViewPr snapToGrid="0">
      <p:cViewPr varScale="1">
        <p:scale>
          <a:sx n="114" d="100"/>
          <a:sy n="114" d="100"/>
        </p:scale>
        <p:origin x="17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71E64-B4EF-4B40-B724-CEB241626157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811F99-C2D7-914A-BF64-E3395516B2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00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11F99-C2D7-914A-BF64-E3395516B29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70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11F99-C2D7-914A-BF64-E3395516B2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92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11F99-C2D7-914A-BF64-E3395516B29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88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11F99-C2D7-914A-BF64-E3395516B2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98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811F99-C2D7-914A-BF64-E3395516B2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74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EA21-B6FD-50BC-7F77-32D751D79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26792-E6EA-D39C-F19F-6B32AB857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704FE-0040-EF46-BDDC-31471E93A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3F338-E3AD-9BDA-D8B9-138D3840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405F7-F79C-DEAB-DE9B-52EBBAFB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89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914A-6549-A2D0-82B0-1D0E70416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CA81-ABE5-4E86-45CA-0408F3E20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56DD1-A474-8F4D-429F-FB71FF80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2A4FE-649C-8F90-ACF5-77C6A9876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22A07-1E7E-BCAA-8692-DA4F97C5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4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2700-2D7B-7571-7221-A4F34F7B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73DA9-E2EE-D14E-1FF9-6C79C219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28951-08C5-7B16-D406-D4122C01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DFDED-0DA2-14FF-19C2-56AEB6FB1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E75A-7863-A617-E2B8-EEE8E98F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0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FAF9-C9EA-D5E7-89A5-E8EF5133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9F44-62A0-04CB-F206-682EEBD212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67EC7-EF12-367F-14A4-B933E046F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D9EFB-75F3-B21D-43B3-680BBF188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F2944-2C2A-E635-ECB8-3C107AC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EDB37-0DCF-6177-D06F-97614123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05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B971-AFBB-02C3-394A-17AF7D9F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CE77A-99EF-1CF8-6749-50B37E4DF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AD8119-4B65-116F-F6D3-218022455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2F12D-B57E-FBDC-F6DF-881D4F4F0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4026E-4103-1A45-2E5D-C14BF6469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F4CD6A-BECD-8E9F-1DB1-27A829C1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352731-169A-CCA2-527F-302F0FF0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35027-7759-6EB1-2402-F7363D90F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18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356C-6313-87DE-5689-75E5DEF8C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831324-BB31-701D-64BD-85AF953B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C582D-2193-3EDC-B29C-933B1C74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3CE92-B42C-7996-A27E-3419630D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407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B4446-64C8-04B4-966B-3DC9D9F62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EEDF6B-424A-BBAD-A91A-F5BBED6D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8DE4B-EE51-08AC-A338-A88C60B0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D4AC1-2F38-3AED-BF22-F641B73F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F347-7B42-ACDA-0C22-85C36B266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5D379-3FDE-DD0A-869F-3FC4166D6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AE869-8B54-BD8E-F417-7EFD4CA4C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71229-62F3-AABF-CCA0-0A3C19FE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FF10F-3E6B-72F0-617B-CFF1493B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78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BF84-BBF3-64D0-7FC0-39851F51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1FBFB0-FBCD-3F15-EC3D-E1831ED0C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CE49B-2F70-D904-DD0D-B1A071473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E022B-BC7A-A0FF-65D8-2AE044196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6B233-15CC-4F01-87D2-31A10D998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E022-4ABD-9CFE-F4FD-FA129E9E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0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F529-7156-0061-3ECA-D85B7BB7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E1EE2-DFEB-A9B8-6069-6ED87A535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DB751-0D10-0249-FCB4-CB14E727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8A3E-FB4A-278B-3D0B-E2A67AC2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95186-DF5E-B6E4-4DB3-1204D8C8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0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9744A-94E4-EF87-61F9-039BC58B96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FD76F-5468-330A-6BE8-A16FE0E6F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42B65-503A-EFA4-4217-6330028B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6AD67-DD87-E644-3981-6A75CC10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3C3FE-B807-E1CD-7C24-A45852926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802A1-FBCA-D415-ECB4-26B0F956E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03BE1-8B79-AC72-F43B-8BA19EC29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E4EE-88D7-D5BC-FB75-8FFB27DBF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35F10-9AD9-9C43-8528-A461A66E7819}" type="datetimeFigureOut">
              <a:rPr lang="en-US" smtClean="0"/>
              <a:t>6/21/25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E19F3-EBE6-D883-C587-1110D3278C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8C41A-DD08-3884-A4E5-4F746DDAE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793FD-9AD8-494D-9EF5-F5DB7B8BC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3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inkedin.com/groups/13117017/" TargetMode="External"/><Relationship Id="rId4" Type="http://schemas.openxmlformats.org/officeDocument/2006/relationships/hyperlink" Target="https://discord.gg/WpUc2ZYHm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ECE4D8-2AC6-BAC8-29FF-66DB40404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26E536-1CA8-BE2F-362C-B56DA5D769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8515" b="1523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6493B4-9520-1B30-3472-12A8F0A06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4791" y="2553629"/>
            <a:ext cx="9144000" cy="967446"/>
          </a:xfrm>
        </p:spPr>
        <p:txBody>
          <a:bodyPr>
            <a:normAutofit/>
          </a:bodyPr>
          <a:lstStyle/>
          <a:p>
            <a:r>
              <a:rPr lang="en-GB" dirty="0"/>
              <a:t>PostgreSQL Partitioning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1A6BCD7-2D0B-821F-42F6-6A38C54BF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48" y="6082543"/>
            <a:ext cx="775457" cy="775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98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86012-C04F-0D04-F0FA-1086F79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7327B-E346-62AA-ED7F-E65EA331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673" y="266977"/>
            <a:ext cx="4919284" cy="188169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What is Partitioning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6E09F5C8-7BB6-4F79-3D85-EE857AD15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2BF6F6BF-EDDC-540B-F4FC-314F25C6A464}"/>
              </a:ext>
            </a:extLst>
          </p:cNvPr>
          <p:cNvSpPr txBox="1">
            <a:spLocks/>
          </p:cNvSpPr>
          <p:nvPr/>
        </p:nvSpPr>
        <p:spPr>
          <a:xfrm>
            <a:off x="621506" y="2018370"/>
            <a:ext cx="5968865" cy="42719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Split large tables into smaller pieces</a:t>
            </a:r>
          </a:p>
          <a:p>
            <a:r>
              <a:rPr lang="en-GB" dirty="0"/>
              <a:t>Improves performance</a:t>
            </a:r>
          </a:p>
          <a:p>
            <a:r>
              <a:rPr lang="en-GB" dirty="0"/>
              <a:t>Logical table interface with physical separation</a:t>
            </a:r>
          </a:p>
          <a:p>
            <a:r>
              <a:rPr lang="en-GB" dirty="0"/>
              <a:t>Used for scaling and performance tuning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-webkit-standard"/>
            </a:endParaRPr>
          </a:p>
          <a:p>
            <a:endParaRPr lang="en-US" sz="40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12BF49-2494-0E93-D916-9C9C7C94E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371" y="2319453"/>
            <a:ext cx="5465544" cy="221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25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86012-C04F-0D04-F0FA-1086F79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7327B-E346-62AA-ED7F-E65EA331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227" y="323626"/>
            <a:ext cx="4888493" cy="152803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Partitioning Strategies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6E09F5C8-7BB6-4F79-3D85-EE857AD15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5A9B484C-F8AC-E8DA-24F1-3500293DD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24" y="1829915"/>
            <a:ext cx="10061952" cy="442591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Range Partitioning: Based on value ranges (e.g. dates)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 Partitioning: Based on discrete values (e.g. types)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Hash Partitioning: Evenly distributes rows using hash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Multi-Level Partitioning: Combine strategies (e.g. year + type)</a:t>
            </a:r>
          </a:p>
          <a:p>
            <a:endParaRPr lang="en-GB" b="0" i="0" u="none" strike="noStrike" dirty="0">
              <a:solidFill>
                <a:schemeClr val="bg2">
                  <a:lumMod val="25000"/>
                </a:schemeClr>
              </a:solidFill>
              <a:effectLst/>
              <a:latin typeface="-webkit-standard"/>
            </a:endParaRPr>
          </a:p>
          <a:p>
            <a:pPr marL="0" indent="0" algn="ctr">
              <a:buNone/>
            </a:pPr>
            <a:endParaRPr lang="en-GB" b="0" i="0" u="none" strike="noStrike" dirty="0">
              <a:solidFill>
                <a:schemeClr val="bg2">
                  <a:lumMod val="25000"/>
                </a:schemeClr>
              </a:solidFill>
              <a:effectLst/>
              <a:latin typeface="-webkit-standard"/>
            </a:endParaRPr>
          </a:p>
          <a:p>
            <a:pPr marL="0" indent="0" algn="ctr">
              <a:buNone/>
            </a:pPr>
            <a:endParaRPr lang="en-US" sz="4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965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86012-C04F-0D04-F0FA-1086F79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7327B-E346-62AA-ED7F-E65EA331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347" y="320345"/>
            <a:ext cx="5064153" cy="112230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Key Concepts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6E09F5C8-7BB6-4F79-3D85-EE857AD15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2CDCE5-703F-C214-6838-2096D700B382}"/>
              </a:ext>
            </a:extLst>
          </p:cNvPr>
          <p:cNvSpPr txBox="1"/>
          <p:nvPr/>
        </p:nvSpPr>
        <p:spPr>
          <a:xfrm>
            <a:off x="579863" y="1640870"/>
            <a:ext cx="7159083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Parent Table: Logical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Child Partition: Physical storage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Partition Key: Column used for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DEFAULT Partition: Catch-all for unmatched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Pruning: Skipping irrelevant partitions in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A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2AF628-8532-7C6F-2335-2A5D493B5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176" y="1442650"/>
            <a:ext cx="3757961" cy="396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8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86012-C04F-0D04-F0FA-1086F79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7327B-E346-62AA-ED7F-E65EA331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437" y="323625"/>
            <a:ext cx="5111975" cy="188169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How it works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6E09F5C8-7BB6-4F79-3D85-EE857AD15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F1C1B7-4277-7615-9812-5C489B4D8A7B}"/>
              </a:ext>
            </a:extLst>
          </p:cNvPr>
          <p:cNvSpPr txBox="1"/>
          <p:nvPr/>
        </p:nvSpPr>
        <p:spPr>
          <a:xfrm>
            <a:off x="2553627" y="2643080"/>
            <a:ext cx="75828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Insert: PostgreSQL routes row based on partition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Select: Planner prunes non-matching partitions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Efficient data access when filters align with partition key</a:t>
            </a:r>
          </a:p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88601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86012-C04F-0D04-F0FA-1086F79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7327B-E346-62AA-ED7F-E65EA331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437" y="323625"/>
            <a:ext cx="5111975" cy="188169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Basic Syntax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6E09F5C8-7BB6-4F79-3D85-EE857AD1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CDD541-4EF2-EBBB-7413-45D0E5386F96}"/>
              </a:ext>
            </a:extLst>
          </p:cNvPr>
          <p:cNvSpPr txBox="1"/>
          <p:nvPr/>
        </p:nvSpPr>
        <p:spPr>
          <a:xfrm>
            <a:off x="2285141" y="2305681"/>
            <a:ext cx="926666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CREATE TABLE </a:t>
            </a:r>
            <a:r>
              <a:rPr lang="en-GB" dirty="0" err="1">
                <a:solidFill>
                  <a:srgbClr val="080808"/>
                </a:solidFill>
                <a:effectLst/>
              </a:rPr>
              <a:t>transactions_partitioned</a:t>
            </a:r>
            <a:r>
              <a:rPr lang="en-GB" dirty="0">
                <a:solidFill>
                  <a:srgbClr val="080808"/>
                </a:solidFill>
                <a:effectLst/>
              </a:rPr>
              <a:t> (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	id                              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>
                <a:solidFill>
                  <a:srgbClr val="080808"/>
                </a:solidFill>
                <a:effectLst/>
              </a:rPr>
              <a:t>GENERATED </a:t>
            </a:r>
            <a:r>
              <a:rPr lang="en-GB" dirty="0">
                <a:solidFill>
                  <a:srgbClr val="0033B3"/>
                </a:solidFill>
                <a:effectLst/>
              </a:rPr>
              <a:t>BY DEFAULT AS IDENTITY</a:t>
            </a:r>
            <a:r>
              <a:rPr lang="en-GB" dirty="0">
                <a:solidFill>
                  <a:srgbClr val="080808"/>
                </a:solidFill>
                <a:effectLst/>
              </a:rPr>
              <a:t>,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	</a:t>
            </a:r>
            <a:r>
              <a:rPr lang="en-GB" dirty="0" err="1">
                <a:solidFill>
                  <a:srgbClr val="080808"/>
                </a:solidFill>
                <a:effectLst/>
              </a:rPr>
              <a:t>transaction_date</a:t>
            </a:r>
            <a:r>
              <a:rPr lang="en-GB" dirty="0">
                <a:solidFill>
                  <a:srgbClr val="080808"/>
                </a:solidFill>
                <a:effectLst/>
              </a:rPr>
              <a:t>  </a:t>
            </a:r>
            <a:r>
              <a:rPr lang="en-GB" dirty="0">
                <a:solidFill>
                  <a:srgbClr val="0033B3"/>
                </a:solidFill>
                <a:effectLst/>
              </a:rPr>
              <a:t>TIMESTAMP DEFAULT CURRENT_TIMESTAMP</a:t>
            </a:r>
            <a:r>
              <a:rPr lang="en-GB" dirty="0">
                <a:solidFill>
                  <a:srgbClr val="080808"/>
                </a:solidFill>
                <a:effectLst/>
              </a:rPr>
              <a:t>,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	</a:t>
            </a:r>
            <a:r>
              <a:rPr lang="en-GB" dirty="0">
                <a:solidFill>
                  <a:srgbClr val="0033B3"/>
                </a:solidFill>
                <a:effectLst/>
              </a:rPr>
              <a:t>PRIMARY KEY </a:t>
            </a:r>
            <a:r>
              <a:rPr lang="en-GB" dirty="0">
                <a:solidFill>
                  <a:srgbClr val="080808"/>
                </a:solidFill>
                <a:effectLst/>
              </a:rPr>
              <a:t>(id, </a:t>
            </a:r>
            <a:r>
              <a:rPr lang="en-GB" dirty="0" err="1">
                <a:solidFill>
                  <a:srgbClr val="080808"/>
                </a:solidFill>
                <a:effectLst/>
              </a:rPr>
              <a:t>transaction_date</a:t>
            </a:r>
            <a:r>
              <a:rPr lang="en-GB" dirty="0">
                <a:solidFill>
                  <a:srgbClr val="080808"/>
                </a:solidFill>
                <a:effectLst/>
              </a:rPr>
              <a:t>)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) PARTITION </a:t>
            </a:r>
            <a:r>
              <a:rPr lang="en-GB" dirty="0">
                <a:solidFill>
                  <a:srgbClr val="0033B3"/>
                </a:solidFill>
                <a:effectLst/>
              </a:rPr>
              <a:t>BY </a:t>
            </a:r>
            <a:r>
              <a:rPr lang="en-GB" dirty="0">
                <a:solidFill>
                  <a:srgbClr val="080808"/>
                </a:solidFill>
                <a:effectLst/>
              </a:rPr>
              <a:t>RANGE (</a:t>
            </a:r>
            <a:r>
              <a:rPr lang="en-GB" dirty="0" err="1">
                <a:solidFill>
                  <a:srgbClr val="080808"/>
                </a:solidFill>
                <a:effectLst/>
              </a:rPr>
              <a:t>transaction_date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</a:p>
          <a:p>
            <a:pPr>
              <a:defRPr sz="1400">
                <a:latin typeface="Courier New"/>
              </a:defRPr>
            </a:pPr>
            <a:endParaRPr lang="en-GB" dirty="0"/>
          </a:p>
          <a:p>
            <a:r>
              <a:rPr lang="en-GB" dirty="0">
                <a:solidFill>
                  <a:srgbClr val="0033B3"/>
                </a:solidFill>
                <a:effectLst/>
              </a:rPr>
              <a:t>CREATE TABLE </a:t>
            </a:r>
            <a:r>
              <a:rPr lang="en-GB" dirty="0">
                <a:solidFill>
                  <a:srgbClr val="080808"/>
                </a:solidFill>
                <a:effectLst/>
              </a:rPr>
              <a:t>transactions_2024_01 PARTITION </a:t>
            </a:r>
            <a:r>
              <a:rPr lang="en-GB" dirty="0">
                <a:solidFill>
                  <a:srgbClr val="0033B3"/>
                </a:solidFill>
                <a:effectLst/>
              </a:rPr>
              <a:t>OF </a:t>
            </a:r>
            <a:r>
              <a:rPr lang="en-GB" dirty="0" err="1">
                <a:solidFill>
                  <a:srgbClr val="080808"/>
                </a:solidFill>
                <a:effectLst/>
              </a:rPr>
              <a:t>transactions_partitioned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FOR VALUES FROM 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'2024-01-01'</a:t>
            </a:r>
            <a:r>
              <a:rPr lang="en-GB" dirty="0">
                <a:solidFill>
                  <a:srgbClr val="080808"/>
                </a:solidFill>
                <a:effectLst/>
              </a:rPr>
              <a:t>) </a:t>
            </a:r>
            <a:r>
              <a:rPr lang="en-GB" dirty="0">
                <a:solidFill>
                  <a:srgbClr val="0033B3"/>
                </a:solidFill>
                <a:effectLst/>
              </a:rPr>
              <a:t>TO 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'2024-02-01'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  <a:br>
              <a:rPr lang="en-GB" sz="2000" dirty="0">
                <a:solidFill>
                  <a:srgbClr val="080808"/>
                </a:solidFill>
                <a:effectLst/>
              </a:rPr>
            </a:br>
            <a:endParaRPr lang="en-GB" sz="2000" dirty="0">
              <a:solidFill>
                <a:srgbClr val="080808"/>
              </a:solidFill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9C6786-06C7-F641-58E4-591F144784B6}"/>
              </a:ext>
            </a:extLst>
          </p:cNvPr>
          <p:cNvSpPr/>
          <p:nvPr/>
        </p:nvSpPr>
        <p:spPr>
          <a:xfrm>
            <a:off x="3278459" y="3144644"/>
            <a:ext cx="3523785" cy="2843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0048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86012-C04F-0D04-F0FA-1086F79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7327B-E346-62AA-ED7F-E65EA331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437" y="323625"/>
            <a:ext cx="5111975" cy="188169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Basic Syntax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6E09F5C8-7BB6-4F79-3D85-EE857AD1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CDD541-4EF2-EBBB-7413-45D0E5386F96}"/>
              </a:ext>
            </a:extLst>
          </p:cNvPr>
          <p:cNvSpPr txBox="1"/>
          <p:nvPr/>
        </p:nvSpPr>
        <p:spPr>
          <a:xfrm>
            <a:off x="2285141" y="2305681"/>
            <a:ext cx="9266663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CREATE TABLE </a:t>
            </a:r>
            <a:r>
              <a:rPr lang="en-GB" dirty="0" err="1">
                <a:solidFill>
                  <a:srgbClr val="080808"/>
                </a:solidFill>
                <a:effectLst/>
              </a:rPr>
              <a:t>accounts_partitioned</a:t>
            </a:r>
            <a:r>
              <a:rPr lang="en-GB" dirty="0">
                <a:solidFill>
                  <a:srgbClr val="080808"/>
                </a:solidFill>
                <a:effectLst/>
              </a:rPr>
              <a:t> (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id       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>
                <a:solidFill>
                  <a:srgbClr val="080808"/>
                </a:solidFill>
                <a:effectLst/>
              </a:rPr>
              <a:t>GENERATED </a:t>
            </a:r>
            <a:r>
              <a:rPr lang="en-GB" dirty="0">
                <a:solidFill>
                  <a:srgbClr val="0033B3"/>
                </a:solidFill>
                <a:effectLst/>
              </a:rPr>
              <a:t>BY DEFAULT AS IDENTITY</a:t>
            </a:r>
            <a:r>
              <a:rPr lang="en-GB" dirty="0">
                <a:solidFill>
                  <a:srgbClr val="080808"/>
                </a:solidFill>
                <a:effectLst/>
              </a:rPr>
              <a:t>,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 err="1">
                <a:solidFill>
                  <a:srgbClr val="080808"/>
                </a:solidFill>
                <a:effectLst/>
              </a:rPr>
              <a:t>account_type</a:t>
            </a:r>
            <a:r>
              <a:rPr lang="en-GB" dirty="0">
                <a:solidFill>
                  <a:srgbClr val="080808"/>
                </a:solidFill>
                <a:effectLst/>
              </a:rPr>
              <a:t> </a:t>
            </a:r>
            <a:r>
              <a:rPr lang="en-GB" dirty="0">
                <a:solidFill>
                  <a:srgbClr val="0033B3"/>
                </a:solidFill>
                <a:effectLst/>
              </a:rPr>
              <a:t>VARCHAR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1750EB"/>
                </a:solidFill>
                <a:effectLst/>
              </a:rPr>
              <a:t>20</a:t>
            </a:r>
            <a:r>
              <a:rPr lang="en-GB" dirty="0">
                <a:solidFill>
                  <a:srgbClr val="080808"/>
                </a:solidFill>
                <a:effectLst/>
              </a:rPr>
              <a:t>) </a:t>
            </a:r>
            <a:r>
              <a:rPr lang="en-GB" dirty="0">
                <a:solidFill>
                  <a:srgbClr val="0033B3"/>
                </a:solidFill>
                <a:effectLst/>
              </a:rPr>
              <a:t>NOT NULL CHECK 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 err="1">
                <a:solidFill>
                  <a:srgbClr val="080808"/>
                </a:solidFill>
                <a:effectLst/>
              </a:rPr>
              <a:t>account_type</a:t>
            </a:r>
            <a:r>
              <a:rPr lang="en-GB" dirty="0">
                <a:solidFill>
                  <a:srgbClr val="080808"/>
                </a:solidFill>
                <a:effectLst/>
              </a:rPr>
              <a:t> </a:t>
            </a:r>
            <a:r>
              <a:rPr lang="en-GB" dirty="0">
                <a:solidFill>
                  <a:srgbClr val="0033B3"/>
                </a:solidFill>
                <a:effectLst/>
              </a:rPr>
              <a:t>IN 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'pending'</a:t>
            </a:r>
            <a:r>
              <a:rPr lang="en-GB" dirty="0">
                <a:solidFill>
                  <a:srgbClr val="080808"/>
                </a:solidFill>
                <a:effectLst/>
              </a:rPr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completed'</a:t>
            </a:r>
            <a:r>
              <a:rPr lang="en-GB" dirty="0">
                <a:solidFill>
                  <a:srgbClr val="080808"/>
                </a:solidFill>
                <a:effectLst/>
              </a:rPr>
              <a:t>)),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PRIMARY KEY </a:t>
            </a:r>
            <a:r>
              <a:rPr lang="en-GB" dirty="0">
                <a:solidFill>
                  <a:srgbClr val="080808"/>
                </a:solidFill>
                <a:effectLst/>
              </a:rPr>
              <a:t>(id, </a:t>
            </a:r>
            <a:r>
              <a:rPr lang="en-GB" dirty="0" err="1">
                <a:solidFill>
                  <a:srgbClr val="080808"/>
                </a:solidFill>
                <a:effectLst/>
              </a:rPr>
              <a:t>account_type</a:t>
            </a:r>
            <a:r>
              <a:rPr lang="en-GB" dirty="0">
                <a:solidFill>
                  <a:srgbClr val="080808"/>
                </a:solidFill>
                <a:effectLst/>
              </a:rPr>
              <a:t>)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) PARTITION </a:t>
            </a:r>
            <a:r>
              <a:rPr lang="en-GB" dirty="0">
                <a:solidFill>
                  <a:srgbClr val="0033B3"/>
                </a:solidFill>
                <a:effectLst/>
              </a:rPr>
              <a:t>BY </a:t>
            </a:r>
            <a:r>
              <a:rPr lang="en-GB" dirty="0">
                <a:solidFill>
                  <a:srgbClr val="080808"/>
                </a:solidFill>
                <a:effectLst/>
              </a:rPr>
              <a:t>LIST (</a:t>
            </a:r>
            <a:r>
              <a:rPr lang="en-GB" dirty="0" err="1">
                <a:solidFill>
                  <a:srgbClr val="080808"/>
                </a:solidFill>
                <a:effectLst/>
              </a:rPr>
              <a:t>account_type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</a:p>
          <a:p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033B3"/>
                </a:solidFill>
                <a:effectLst/>
              </a:rPr>
              <a:t>CREATE TABLE </a:t>
            </a:r>
            <a:r>
              <a:rPr lang="en-GB" dirty="0" err="1">
                <a:solidFill>
                  <a:srgbClr val="080808"/>
                </a:solidFill>
                <a:effectLst/>
              </a:rPr>
              <a:t>pending_accounts</a:t>
            </a:r>
            <a:r>
              <a:rPr lang="en-GB" dirty="0">
                <a:solidFill>
                  <a:srgbClr val="080808"/>
                </a:solidFill>
                <a:effectLst/>
              </a:rPr>
              <a:t> PARTITION </a:t>
            </a:r>
            <a:r>
              <a:rPr lang="en-GB" dirty="0">
                <a:solidFill>
                  <a:srgbClr val="0033B3"/>
                </a:solidFill>
                <a:effectLst/>
              </a:rPr>
              <a:t>OF </a:t>
            </a:r>
            <a:r>
              <a:rPr lang="en-GB" dirty="0" err="1">
                <a:solidFill>
                  <a:srgbClr val="080808"/>
                </a:solidFill>
                <a:effectLst/>
              </a:rPr>
              <a:t>accounts_partitioned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FOR VALUES IN 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'pending '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</a:p>
          <a:p>
            <a:endParaRPr lang="en-GB" sz="2000" dirty="0">
              <a:solidFill>
                <a:srgbClr val="08080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19941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86012-C04F-0D04-F0FA-1086F79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7327B-E346-62AA-ED7F-E65EA331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437" y="323625"/>
            <a:ext cx="5111975" cy="188169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Basic Syntax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6E09F5C8-7BB6-4F79-3D85-EE857AD1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CDD541-4EF2-EBBB-7413-45D0E5386F96}"/>
              </a:ext>
            </a:extLst>
          </p:cNvPr>
          <p:cNvSpPr txBox="1"/>
          <p:nvPr/>
        </p:nvSpPr>
        <p:spPr>
          <a:xfrm>
            <a:off x="2073268" y="1944247"/>
            <a:ext cx="9266663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CREATE TABLE </a:t>
            </a:r>
            <a:r>
              <a:rPr lang="en-GB" dirty="0" err="1">
                <a:solidFill>
                  <a:srgbClr val="080808"/>
                </a:solidFill>
                <a:effectLst/>
              </a:rPr>
              <a:t>companies_partitioned</a:t>
            </a:r>
            <a:r>
              <a:rPr lang="en-GB" dirty="0">
                <a:solidFill>
                  <a:srgbClr val="080808"/>
                </a:solidFill>
                <a:effectLst/>
              </a:rPr>
              <a:t> (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id         </a:t>
            </a:r>
            <a:r>
              <a:rPr lang="en-GB" dirty="0">
                <a:solidFill>
                  <a:srgbClr val="0033B3"/>
                </a:solidFill>
                <a:effectLst/>
              </a:rPr>
              <a:t>INT PRIMARY KEY</a:t>
            </a:r>
            <a:r>
              <a:rPr lang="en-GB" dirty="0">
                <a:solidFill>
                  <a:srgbClr val="080808"/>
                </a:solidFill>
                <a:effectLst/>
              </a:rPr>
              <a:t>,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…</a:t>
            </a:r>
            <a:br>
              <a:rPr lang="en-GB" dirty="0">
                <a:solidFill>
                  <a:srgbClr val="0033B3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) PARTITION </a:t>
            </a:r>
            <a:r>
              <a:rPr lang="en-GB" dirty="0">
                <a:solidFill>
                  <a:srgbClr val="0033B3"/>
                </a:solidFill>
                <a:effectLst/>
              </a:rPr>
              <a:t>BY </a:t>
            </a:r>
            <a:r>
              <a:rPr lang="en-GB" dirty="0">
                <a:solidFill>
                  <a:srgbClr val="080808"/>
                </a:solidFill>
                <a:effectLst/>
              </a:rPr>
              <a:t>HASH (id);</a:t>
            </a:r>
          </a:p>
          <a:p>
            <a:endParaRPr lang="en-GB" dirty="0">
              <a:solidFill>
                <a:srgbClr val="080808"/>
              </a:solidFill>
              <a:effectLst/>
            </a:endParaRPr>
          </a:p>
          <a:p>
            <a:r>
              <a:rPr lang="en-GB" dirty="0">
                <a:solidFill>
                  <a:srgbClr val="0033B3"/>
                </a:solidFill>
                <a:effectLst/>
              </a:rPr>
              <a:t>CREATE TABLE </a:t>
            </a:r>
            <a:r>
              <a:rPr lang="en-GB" dirty="0">
                <a:solidFill>
                  <a:srgbClr val="080808"/>
                </a:solidFill>
                <a:effectLst/>
              </a:rPr>
              <a:t>customers_part_0 PARTITION </a:t>
            </a:r>
            <a:r>
              <a:rPr lang="en-GB" dirty="0">
                <a:solidFill>
                  <a:srgbClr val="0033B3"/>
                </a:solidFill>
                <a:effectLst/>
              </a:rPr>
              <a:t>OF </a:t>
            </a:r>
            <a:r>
              <a:rPr lang="en-GB" dirty="0" err="1">
                <a:solidFill>
                  <a:srgbClr val="080808"/>
                </a:solidFill>
                <a:effectLst/>
              </a:rPr>
              <a:t>customers_partitioned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FOR VALUES WITH </a:t>
            </a:r>
            <a:r>
              <a:rPr lang="en-GB" dirty="0">
                <a:solidFill>
                  <a:srgbClr val="080808"/>
                </a:solidFill>
                <a:effectLst/>
              </a:rPr>
              <a:t>(MODULUS </a:t>
            </a:r>
            <a:r>
              <a:rPr lang="en-GB" dirty="0">
                <a:solidFill>
                  <a:srgbClr val="1750EB"/>
                </a:solidFill>
                <a:effectLst/>
              </a:rPr>
              <a:t>4</a:t>
            </a:r>
            <a:r>
              <a:rPr lang="en-GB" dirty="0">
                <a:solidFill>
                  <a:srgbClr val="080808"/>
                </a:solidFill>
                <a:effectLst/>
              </a:rPr>
              <a:t>, REMAINDER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</a:p>
          <a:p>
            <a:endParaRPr lang="en-GB" dirty="0">
              <a:solidFill>
                <a:srgbClr val="080808"/>
              </a:solidFill>
            </a:endParaRPr>
          </a:p>
          <a:p>
            <a:r>
              <a:rPr lang="en-GB" dirty="0">
                <a:solidFill>
                  <a:srgbClr val="080808"/>
                </a:solidFill>
                <a:effectLst/>
              </a:rPr>
              <a:t>…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033B3"/>
                </a:solidFill>
                <a:effectLst/>
              </a:rPr>
              <a:t>CREATE TABLE </a:t>
            </a:r>
            <a:r>
              <a:rPr lang="en-GB" dirty="0">
                <a:solidFill>
                  <a:srgbClr val="080808"/>
                </a:solidFill>
                <a:effectLst/>
              </a:rPr>
              <a:t>customers_part_1 PARTITION </a:t>
            </a:r>
            <a:r>
              <a:rPr lang="en-GB" dirty="0">
                <a:solidFill>
                  <a:srgbClr val="0033B3"/>
                </a:solidFill>
                <a:effectLst/>
              </a:rPr>
              <a:t>OF </a:t>
            </a:r>
            <a:r>
              <a:rPr lang="en-GB" dirty="0" err="1">
                <a:solidFill>
                  <a:srgbClr val="080808"/>
                </a:solidFill>
                <a:effectLst/>
              </a:rPr>
              <a:t>customers_partitioned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FOR VALUES WITH </a:t>
            </a:r>
            <a:r>
              <a:rPr lang="en-GB" dirty="0">
                <a:solidFill>
                  <a:srgbClr val="080808"/>
                </a:solidFill>
                <a:effectLst/>
              </a:rPr>
              <a:t>(MODULUS </a:t>
            </a:r>
            <a:r>
              <a:rPr lang="en-GB" dirty="0">
                <a:solidFill>
                  <a:srgbClr val="1750EB"/>
                </a:solidFill>
                <a:effectLst/>
              </a:rPr>
              <a:t>4</a:t>
            </a:r>
            <a:r>
              <a:rPr lang="en-GB" dirty="0">
                <a:solidFill>
                  <a:srgbClr val="080808"/>
                </a:solidFill>
                <a:effectLst/>
              </a:rPr>
              <a:t>, REMAINDER </a:t>
            </a:r>
            <a:r>
              <a:rPr lang="en-GB" dirty="0">
                <a:solidFill>
                  <a:srgbClr val="1750EB"/>
                </a:solidFill>
              </a:rPr>
              <a:t>3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</a:p>
          <a:p>
            <a:endParaRPr lang="en-GB" sz="2000" dirty="0">
              <a:solidFill>
                <a:srgbClr val="08080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6672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86012-C04F-0D04-F0FA-1086F79F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7327B-E346-62AA-ED7F-E65EA331F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437" y="323625"/>
            <a:ext cx="5111975" cy="188169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gradFill flip="none" rotWithShape="1">
                  <a:gsLst>
                    <a:gs pos="7000">
                      <a:schemeClr val="tx2">
                        <a:lumMod val="50000"/>
                        <a:lumOff val="50000"/>
                      </a:schemeClr>
                    </a:gs>
                    <a:gs pos="35000">
                      <a:schemeClr val="accent5">
                        <a:lumMod val="60000"/>
                        <a:lumOff val="40000"/>
                      </a:schemeClr>
                    </a:gs>
                    <a:gs pos="76000">
                      <a:srgbClr val="0070C0"/>
                    </a:gs>
                    <a:gs pos="97000">
                      <a:schemeClr val="tx2">
                        <a:lumMod val="75000"/>
                        <a:lumOff val="25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Basic Syntax</a:t>
            </a:r>
            <a:endParaRPr lang="en-US" sz="4000" dirty="0"/>
          </a:p>
        </p:txBody>
      </p:sp>
      <p:pic>
        <p:nvPicPr>
          <p:cNvPr id="3" name="Picture 2" descr="A green dot in a black background&#10;&#10;Description automatically generated">
            <a:extLst>
              <a:ext uri="{FF2B5EF4-FFF2-40B4-BE49-F238E27FC236}">
                <a16:creationId xmlns:a16="http://schemas.microsoft.com/office/drawing/2014/main" id="{6E09F5C8-7BB6-4F79-3D85-EE857AD15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82506"/>
            <a:ext cx="775494" cy="7754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CDD541-4EF2-EBBB-7413-45D0E5386F96}"/>
              </a:ext>
            </a:extLst>
          </p:cNvPr>
          <p:cNvSpPr txBox="1"/>
          <p:nvPr/>
        </p:nvSpPr>
        <p:spPr>
          <a:xfrm>
            <a:off x="2073268" y="1944247"/>
            <a:ext cx="9266663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solidFill>
                  <a:srgbClr val="808080"/>
                </a:solidFill>
                <a:effectLst/>
              </a:rPr>
              <a:t>-- Detach a partition from the parent table</a:t>
            </a:r>
            <a:br>
              <a:rPr lang="en-GB" i="1" dirty="0">
                <a:solidFill>
                  <a:srgbClr val="808080"/>
                </a:solidFill>
                <a:effectLst/>
              </a:rPr>
            </a:br>
            <a:r>
              <a:rPr lang="en-GB" dirty="0">
                <a:solidFill>
                  <a:srgbClr val="0033B3"/>
                </a:solidFill>
                <a:effectLst/>
              </a:rPr>
              <a:t>ALTER TABLE </a:t>
            </a:r>
            <a:r>
              <a:rPr lang="en-GB" dirty="0">
                <a:solidFill>
                  <a:srgbClr val="080808"/>
                </a:solidFill>
                <a:effectLst/>
              </a:rPr>
              <a:t>transactions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DETACH PARTITION transactions_2022;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i="1" dirty="0">
                <a:solidFill>
                  <a:srgbClr val="808080"/>
                </a:solidFill>
                <a:effectLst/>
              </a:rPr>
              <a:t>-- Drop the detached table</a:t>
            </a:r>
            <a:br>
              <a:rPr lang="en-GB" i="1" dirty="0">
                <a:solidFill>
                  <a:srgbClr val="808080"/>
                </a:solidFill>
                <a:effectLst/>
              </a:rPr>
            </a:br>
            <a:r>
              <a:rPr lang="en-GB" dirty="0">
                <a:solidFill>
                  <a:srgbClr val="0033B3"/>
                </a:solidFill>
                <a:effectLst/>
              </a:rPr>
              <a:t>DROP TABLE </a:t>
            </a:r>
            <a:r>
              <a:rPr lang="en-GB" dirty="0">
                <a:solidFill>
                  <a:srgbClr val="080808"/>
                </a:solidFill>
                <a:effectLst/>
              </a:rPr>
              <a:t>transactions_2022;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i="1" dirty="0">
                <a:solidFill>
                  <a:srgbClr val="808080"/>
                </a:solidFill>
                <a:effectLst/>
              </a:rPr>
              <a:t>-- Attach a previously detached table (must match partition key)</a:t>
            </a:r>
            <a:br>
              <a:rPr lang="en-GB" i="1" dirty="0">
                <a:solidFill>
                  <a:srgbClr val="808080"/>
                </a:solidFill>
                <a:effectLst/>
              </a:rPr>
            </a:br>
            <a:r>
              <a:rPr lang="en-GB" dirty="0">
                <a:solidFill>
                  <a:srgbClr val="0033B3"/>
                </a:solidFill>
                <a:effectLst/>
              </a:rPr>
              <a:t>ALTER TABLE </a:t>
            </a:r>
            <a:r>
              <a:rPr lang="en-GB" dirty="0">
                <a:solidFill>
                  <a:srgbClr val="080808"/>
                </a:solidFill>
                <a:effectLst/>
              </a:rPr>
              <a:t>transactions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ATTACH PARTITION transactions_2022</a:t>
            </a:r>
            <a:br>
              <a:rPr lang="en-GB" dirty="0">
                <a:solidFill>
                  <a:srgbClr val="080808"/>
                </a:solidFill>
                <a:effectLst/>
              </a:rPr>
            </a:br>
            <a:r>
              <a:rPr lang="en-GB" dirty="0">
                <a:solidFill>
                  <a:srgbClr val="080808"/>
                </a:solidFill>
                <a:effectLst/>
              </a:rPr>
              <a:t>  </a:t>
            </a:r>
            <a:r>
              <a:rPr lang="en-GB" dirty="0">
                <a:solidFill>
                  <a:srgbClr val="0033B3"/>
                </a:solidFill>
                <a:effectLst/>
              </a:rPr>
              <a:t>FOR VALUES FROM 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'2022-01-01'</a:t>
            </a:r>
            <a:r>
              <a:rPr lang="en-GB" dirty="0">
                <a:solidFill>
                  <a:srgbClr val="080808"/>
                </a:solidFill>
                <a:effectLst/>
              </a:rPr>
              <a:t>) </a:t>
            </a:r>
            <a:r>
              <a:rPr lang="en-GB" dirty="0">
                <a:solidFill>
                  <a:srgbClr val="0033B3"/>
                </a:solidFill>
                <a:effectLst/>
              </a:rPr>
              <a:t>TO </a:t>
            </a:r>
            <a:r>
              <a:rPr lang="en-GB" dirty="0">
                <a:solidFill>
                  <a:srgbClr val="080808"/>
                </a:solidFill>
                <a:effectLst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'2023-01-01'</a:t>
            </a:r>
            <a:r>
              <a:rPr lang="en-GB" dirty="0">
                <a:solidFill>
                  <a:srgbClr val="080808"/>
                </a:solidFill>
                <a:effectLst/>
              </a:rPr>
              <a:t>);</a:t>
            </a:r>
          </a:p>
          <a:p>
            <a:endParaRPr lang="en-GB" sz="2000" dirty="0">
              <a:solidFill>
                <a:srgbClr val="08080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6385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356ED-BDC8-8E55-5E45-5EDF3E9F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96CF2A2B-0745-440C-9224-C5C6A0A42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5BE6D6B-84C9-4D2B-97EB-773B7369E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D9452A-42A3-5C81-969E-D3EB96B075E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l="2404" r="2486" b="1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3499B-6632-C847-3059-0D6B6E4CE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728906"/>
            <a:ext cx="9792471" cy="20570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7200" b="1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67000">
                      <a:schemeClr val="accent5">
                        <a:lumMod val="60000"/>
                        <a:lumOff val="40000"/>
                      </a:schemeClr>
                    </a:gs>
                    <a:gs pos="42000">
                      <a:schemeClr val="tx2">
                        <a:lumMod val="25000"/>
                        <a:lumOff val="75000"/>
                      </a:schemeClr>
                    </a:gs>
                    <a:gs pos="860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Thank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7200" b="1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67000">
                      <a:schemeClr val="accent5">
                        <a:lumMod val="60000"/>
                        <a:lumOff val="40000"/>
                      </a:schemeClr>
                    </a:gs>
                    <a:gs pos="42000">
                      <a:schemeClr val="tx2">
                        <a:lumMod val="25000"/>
                        <a:lumOff val="75000"/>
                      </a:schemeClr>
                    </a:gs>
                    <a:gs pos="8600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path path="rect">
                    <a:fillToRect l="100000" t="100000"/>
                  </a:path>
                  <a:tileRect r="-100000" b="-100000"/>
                </a:gra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4DFFA432-BF58-062C-8A02-3378C32AD9B8}"/>
              </a:ext>
            </a:extLst>
          </p:cNvPr>
          <p:cNvSpPr txBox="1">
            <a:spLocks/>
          </p:cNvSpPr>
          <p:nvPr/>
        </p:nvSpPr>
        <p:spPr>
          <a:xfrm>
            <a:off x="1198181" y="2957665"/>
            <a:ext cx="9792471" cy="3171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Author: Dmytro </a:t>
            </a:r>
            <a:r>
              <a:rPr lang="en-US" sz="2000" dirty="0" err="1">
                <a:solidFill>
                  <a:srgbClr val="FFFFFF"/>
                </a:solidFill>
              </a:rPr>
              <a:t>Halchenko</a:t>
            </a:r>
            <a:endParaRPr lang="en-US" sz="2000" dirty="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My LinkedIn: https://</a:t>
            </a:r>
            <a:r>
              <a:rPr lang="en-US" sz="2000" dirty="0" err="1">
                <a:solidFill>
                  <a:srgbClr val="FFFFFF"/>
                </a:solidFill>
              </a:rPr>
              <a:t>www.linkedin.com</a:t>
            </a:r>
            <a:r>
              <a:rPr lang="en-US" sz="2000" dirty="0">
                <a:solidFill>
                  <a:srgbClr val="FFFFFF"/>
                </a:solidFill>
              </a:rPr>
              <a:t>/in/dmytro-halchenko-0307751b6/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Date: June 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hlinkClick r:id="rId4"/>
              </a:rPr>
              <a:t>Join Codeus community in Discord</a:t>
            </a:r>
            <a:endParaRPr lang="en-US" sz="2000" dirty="0">
              <a:solidFill>
                <a:srgbClr val="FFFFFF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hlinkClick r:id="rId5"/>
              </a:rPr>
              <a:t>Join Codeus community in LinkedIn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2E830D5-49A2-5EDC-0549-0AE9D01AEA79}"/>
              </a:ext>
            </a:extLst>
          </p:cNvPr>
          <p:cNvSpPr txBox="1">
            <a:spLocks/>
          </p:cNvSpPr>
          <p:nvPr/>
        </p:nvSpPr>
        <p:spPr>
          <a:xfrm>
            <a:off x="990600" y="2586601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76D6BBAE-B718-8D41-4379-DEC11DEFA0BB}"/>
              </a:ext>
            </a:extLst>
          </p:cNvPr>
          <p:cNvSpPr txBox="1">
            <a:spLocks/>
          </p:cNvSpPr>
          <p:nvPr/>
        </p:nvSpPr>
        <p:spPr>
          <a:xfrm>
            <a:off x="6185170" y="2593087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094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</TotalTime>
  <Words>487</Words>
  <Application>Microsoft Macintosh PowerPoint</Application>
  <PresentationFormat>Widescreen</PresentationFormat>
  <Paragraphs>50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-webkit-standard</vt:lpstr>
      <vt:lpstr>Aptos</vt:lpstr>
      <vt:lpstr>Aptos Display</vt:lpstr>
      <vt:lpstr>Arial</vt:lpstr>
      <vt:lpstr>Calibri</vt:lpstr>
      <vt:lpstr>Courier New</vt:lpstr>
      <vt:lpstr>Office Theme</vt:lpstr>
      <vt:lpstr>PostgreSQL Partitioning</vt:lpstr>
      <vt:lpstr>What is Partitioning</vt:lpstr>
      <vt:lpstr>Partitioning Strategies</vt:lpstr>
      <vt:lpstr>Key Concepts</vt:lpstr>
      <vt:lpstr>How it works</vt:lpstr>
      <vt:lpstr>Basic Syntax</vt:lpstr>
      <vt:lpstr>Basic Syntax</vt:lpstr>
      <vt:lpstr>Basic Syntax</vt:lpstr>
      <vt:lpstr>Basic Syntax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PostgreSQL Indexes</dc:title>
  <dc:creator>Pavlo Khshanovskyi</dc:creator>
  <cp:lastModifiedBy>Dmytro Halchenko</cp:lastModifiedBy>
  <cp:revision>10</cp:revision>
  <dcterms:created xsi:type="dcterms:W3CDTF">2024-11-29T18:21:01Z</dcterms:created>
  <dcterms:modified xsi:type="dcterms:W3CDTF">2025-06-21T12:05:32Z</dcterms:modified>
</cp:coreProperties>
</file>